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66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64" r:id="rId10"/>
    <p:sldId id="265" r:id="rId11"/>
    <p:sldId id="268" r:id="rId12"/>
  </p:sldIdLst>
  <p:sldSz cx="9144000" cy="5143500" type="screen16x9"/>
  <p:notesSz cx="5143500" cy="9144000"/>
  <p:embeddedFontLst>
    <p:embeddedFont>
      <p:font typeface="Open Sans" panose="020B0606030504020204" pitchFamily="34" charset="0"/>
      <p:regular r:id="rId14"/>
    </p:embeddedFont>
    <p:embeddedFont>
      <p:font typeface="Open Sans Bold" panose="020B0604020202020204" charset="0"/>
      <p:regular r:id="rId15"/>
    </p:embeddedFont>
    <p:embeddedFont>
      <p:font typeface="Unbounded Bold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101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6855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6F5E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096" y="83820"/>
            <a:ext cx="3304903" cy="491925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974201" y="294507"/>
            <a:ext cx="4624521" cy="472606"/>
          </a:xfrm>
          <a:prstGeom prst="roundRect">
            <a:avLst>
              <a:gd name="adj" fmla="val 17880"/>
            </a:avLst>
          </a:prstGeom>
          <a:solidFill>
            <a:srgbClr val="D6F5EE"/>
          </a:solidFill>
          <a:ln/>
        </p:spPr>
      </p:sp>
      <p:sp>
        <p:nvSpPr>
          <p:cNvPr id="4" name="Text 1"/>
          <p:cNvSpPr/>
          <p:nvPr/>
        </p:nvSpPr>
        <p:spPr>
          <a:xfrm>
            <a:off x="4010174" y="379564"/>
            <a:ext cx="4588548" cy="3017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400" dirty="0"/>
              <a:t>PYTHON MINI PROJECT BASED ON OOPS CONCEPT</a:t>
            </a:r>
          </a:p>
        </p:txBody>
      </p:sp>
      <p:sp>
        <p:nvSpPr>
          <p:cNvPr id="5" name="Text 2"/>
          <p:cNvSpPr/>
          <p:nvPr/>
        </p:nvSpPr>
        <p:spPr>
          <a:xfrm>
            <a:off x="3905626" y="1078162"/>
            <a:ext cx="4722763" cy="1129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Employee Record Management System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3974201" y="2084897"/>
            <a:ext cx="4722763" cy="5475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console-based Python application demonstrating Object-Oriented Programming principles to manage employee data efficiently.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925119" y="2831853"/>
            <a:ext cx="4722763" cy="19050"/>
          </a:xfrm>
          <a:prstGeom prst="roundRect">
            <a:avLst>
              <a:gd name="adj" fmla="val 60000"/>
            </a:avLst>
          </a:prstGeom>
          <a:solidFill>
            <a:srgbClr val="333F70">
              <a:alpha val="50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3758579" y="3200943"/>
            <a:ext cx="1499744" cy="1501453"/>
          </a:xfrm>
          <a:prstGeom prst="roundRect">
            <a:avLst>
              <a:gd name="adj" fmla="val 4024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73138" y="3331071"/>
            <a:ext cx="1385184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</a:rPr>
              <a:t>Presented By: 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3925119" y="3884624"/>
            <a:ext cx="1271883" cy="635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DAARANI B</a:t>
            </a:r>
          </a:p>
          <a:p>
            <a:pPr marL="0" indent="0" algn="l">
              <a:lnSpc>
                <a:spcPct val="133000"/>
              </a:lnSpc>
              <a:buNone/>
            </a:pPr>
            <a:r>
              <a:rPr lang="en-US" sz="14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811324243024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24862" y="3184550"/>
            <a:ext cx="1601463" cy="1501453"/>
          </a:xfrm>
          <a:prstGeom prst="roundRect">
            <a:avLst>
              <a:gd name="adj" fmla="val 4024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46602" y="3331071"/>
            <a:ext cx="140283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Department: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5546602" y="3724806"/>
            <a:ext cx="1333201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ARTIFICIAL INTELLIGENCE AND DATA SCIENCE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7254185" y="3184549"/>
            <a:ext cx="1479724" cy="1501453"/>
          </a:xfrm>
          <a:prstGeom prst="roundRect">
            <a:avLst>
              <a:gd name="adj" fmla="val 4024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4605" y="3331071"/>
            <a:ext cx="118668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Institution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400706" y="3791683"/>
            <a:ext cx="1186681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2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JJCET</a:t>
            </a:r>
          </a:p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D672444-9659-94B0-33F9-043B7987F3D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2525"/>
            <a:ext cx="1070042" cy="255458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36513"/>
            <a:ext cx="806872" cy="260821"/>
          </a:xfrm>
          <a:prstGeom prst="roundRect">
            <a:avLst>
              <a:gd name="adj" fmla="val 17978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851137" y="410467"/>
            <a:ext cx="3441725" cy="3488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Project Overview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96119" y="930993"/>
            <a:ext cx="8151763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lightweight, console-based application built in Python that leverages core OOP principles to manage employee records with speed and clarity.</a:t>
            </a:r>
            <a:endParaRPr lang="en-US" sz="11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610635"/>
            <a:ext cx="348853" cy="34885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6119" y="2131161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Console-Based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96119" y="2431570"/>
            <a:ext cx="399000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Operates through a clean command-line interface for direct interaction.</a:t>
            </a:r>
            <a:endParaRPr lang="en-US" sz="10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7799" y="1610635"/>
            <a:ext cx="348853" cy="348853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57799" y="2131161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OOP-Driven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657799" y="2431570"/>
            <a:ext cx="399008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entirely on Object-Oriented Programming concepts for modularity.</a:t>
            </a:r>
            <a:endParaRPr lang="en-US" sz="105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3149220"/>
            <a:ext cx="348853" cy="34885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96119" y="3669746"/>
            <a:ext cx="2088803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Dictionary Storage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496119" y="3970156"/>
            <a:ext cx="399000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Fast record lookup using Python dictionaries indexed by Employee ID.</a:t>
            </a:r>
            <a:endParaRPr lang="en-US" sz="105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57799" y="3149220"/>
            <a:ext cx="348853" cy="348853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657799" y="3669746"/>
            <a:ext cx="1744340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File Persistence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4657799" y="3970156"/>
            <a:ext cx="399008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Saves all records to a text file for permanent, portable storage.</a:t>
            </a:r>
            <a:endParaRPr lang="en-US" sz="1050" dirty="0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5410E76-F05C-7FC0-F67A-C23B7091BF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396032"/>
            <a:ext cx="614809" cy="182761"/>
          </a:xfrm>
          <a:prstGeom prst="roundRect">
            <a:avLst>
              <a:gd name="adj" fmla="val 19548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119140" y="312986"/>
            <a:ext cx="2905720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Project Objectives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96119" y="852344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35967" y="879402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4983" y="888882"/>
            <a:ext cx="1911176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Add Employee Records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4983" y="1102748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Register new employees with key details like name, salary, and experience.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96119" y="1450234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5967" y="1464176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14983" y="1447582"/>
            <a:ext cx="158948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View All Employees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14983" y="1661448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Display all stored records in a structured, readable format.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6119" y="1996180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5967" y="2028474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3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14983" y="2006283"/>
            <a:ext cx="153672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Search Employees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14983" y="2220149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Quickly locate an employee by ID using dictionary-based lookup.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6119" y="2528447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5967" y="2561412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4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14983" y="2564984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Update Details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14983" y="2778850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Modify existing employee information with accurate field targeting.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96119" y="3093684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35967" y="3107053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5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4983" y="3123685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Delete Records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14983" y="3337551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Remove obsolete entries while maintaining data integrity.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6119" y="3671978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5967" y="3665754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6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14983" y="3682385"/>
            <a:ext cx="1488802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Generate Reports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4983" y="3896251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Produce insights like highest salary and experienced employees.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6119" y="4204549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4209" y="4244361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7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14983" y="4241086"/>
            <a:ext cx="1644997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Permanent Storage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14983" y="4454952"/>
            <a:ext cx="7832899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 all records to a text file for session continuity.</a:t>
            </a:r>
            <a:endParaRPr lang="en-US" sz="1000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13F6067F-709E-019C-BC9F-709CD84CAEB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02580"/>
            <a:ext cx="665411" cy="202629"/>
          </a:xfrm>
          <a:prstGeom prst="roundRect">
            <a:avLst>
              <a:gd name="adj" fmla="val 19100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080221" y="376479"/>
            <a:ext cx="2983557" cy="287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Project Structure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35037" y="874580"/>
            <a:ext cx="8608963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9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is organized into modular Python files, each handling a specific concern to ensure maintainability and clean separation of responsibilities.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96119" y="1290926"/>
            <a:ext cx="8151763" cy="3397746"/>
          </a:xfrm>
          <a:prstGeom prst="roundRect">
            <a:avLst>
              <a:gd name="adj" fmla="val 1424"/>
            </a:avLst>
          </a:prstGeom>
          <a:noFill/>
          <a:ln w="4763">
            <a:solidFill>
              <a:schemeClr val="tx1">
                <a:alpha val="8000"/>
              </a:scheme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0955" y="1295688"/>
            <a:ext cx="2035522" cy="291108"/>
          </a:xfrm>
          <a:prstGeom prst="rect">
            <a:avLst/>
          </a:prstGeom>
          <a:solidFill>
            <a:srgbClr val="192248"/>
          </a:solidFill>
          <a:ln/>
        </p:spPr>
      </p:sp>
      <p:sp>
        <p:nvSpPr>
          <p:cNvPr id="9" name="Text 7"/>
          <p:cNvSpPr/>
          <p:nvPr/>
        </p:nvSpPr>
        <p:spPr>
          <a:xfrm>
            <a:off x="820117" y="1310937"/>
            <a:ext cx="1433226" cy="264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File Name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2536478" y="1295688"/>
            <a:ext cx="6106641" cy="291108"/>
          </a:xfrm>
          <a:prstGeom prst="rect">
            <a:avLst/>
          </a:prstGeom>
          <a:solidFill>
            <a:srgbClr val="192248"/>
          </a:solidFill>
          <a:ln/>
        </p:spPr>
      </p:sp>
      <p:sp>
        <p:nvSpPr>
          <p:cNvPr id="11" name="Text 9"/>
          <p:cNvSpPr/>
          <p:nvPr/>
        </p:nvSpPr>
        <p:spPr>
          <a:xfrm>
            <a:off x="3396343" y="1310937"/>
            <a:ext cx="3618412" cy="2648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21000"/>
              </a:lnSpc>
              <a:buNone/>
            </a:pPr>
            <a:r>
              <a:rPr lang="en-US" sz="120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Purpose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616074" y="1708827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employee.py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53978" y="1708827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Defines the abstract Employee class and its subclasses with OOP structure.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6074" y="2205817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employee_manager.py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53978" y="2205817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Manages all CRUD operations using an Employee ID-key dictionary.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6074" y="2722399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report.py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653978" y="2722399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analytical reports like highest salary and experienced lists.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6074" y="3238981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file_handler.py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53978" y="3238981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Handles saving and loading records to and from the data.txt file.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6074" y="3755564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main.py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53978" y="3755564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Entry point displaying the menu and routing user selections.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6074" y="4272146"/>
            <a:ext cx="2260104" cy="1669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data.txt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653978" y="4272146"/>
            <a:ext cx="5874023" cy="390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1000"/>
              </a:lnSpc>
              <a:spcAft>
                <a:spcPts val="4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Text-based storage file persisting employee records across sessions.</a:t>
            </a:r>
            <a:endParaRPr lang="en-US" sz="10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FD965247-361D-826E-D625-D3050D163BE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62409"/>
            <a:ext cx="640184" cy="192658"/>
          </a:xfrm>
          <a:prstGeom prst="roundRect">
            <a:avLst>
              <a:gd name="adj" fmla="val 19316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103553" y="413887"/>
            <a:ext cx="2848273" cy="2768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System Features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40261" y="917123"/>
            <a:ext cx="6086772" cy="2124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9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system provides a comprehensive set of operations for full employee lifecycle management.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6119" y="3095104"/>
            <a:ext cx="8151763" cy="14288"/>
          </a:xfrm>
          <a:prstGeom prst="roundRect">
            <a:avLst>
              <a:gd name="adj" fmla="val 325570"/>
            </a:avLst>
          </a:prstGeom>
          <a:solidFill>
            <a:srgbClr val="BCDBD4"/>
          </a:solidFill>
          <a:ln/>
        </p:spPr>
      </p:sp>
      <p:sp>
        <p:nvSpPr>
          <p:cNvPr id="8" name="Shape 6"/>
          <p:cNvSpPr/>
          <p:nvPr/>
        </p:nvSpPr>
        <p:spPr>
          <a:xfrm>
            <a:off x="711647" y="1351434"/>
            <a:ext cx="1586668" cy="1428155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7136" y="1466924"/>
            <a:ext cx="1121105" cy="519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Add Employee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7136" y="2037829"/>
            <a:ext cx="1121105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Register new staff with ID, name, salary, and type.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57646" y="3262984"/>
            <a:ext cx="1695264" cy="1432321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3994" y="3424906"/>
            <a:ext cx="1403425" cy="3142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View Employees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33994" y="3901079"/>
            <a:ext cx="1403425" cy="6787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List all stored records in one consolidated view.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587953" y="1351434"/>
            <a:ext cx="1600483" cy="1428155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00656" y="1466924"/>
            <a:ext cx="1081419" cy="5190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Search Employee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800656" y="2037829"/>
            <a:ext cx="1081419" cy="6310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Find any record instantly by Employee ID.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761812" y="3255105"/>
            <a:ext cx="1744582" cy="1431242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04457" y="3399651"/>
            <a:ext cx="1183979" cy="3945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Update Details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939205" y="3900544"/>
            <a:ext cx="1308648" cy="5751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Edit existing employee fields with precision.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06394" y="1351433"/>
            <a:ext cx="1600483" cy="1428155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27690" y="1466924"/>
            <a:ext cx="1416519" cy="3937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Delete Record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527690" y="1864816"/>
            <a:ext cx="1416519" cy="7180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Remove outdated entries from the system.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74010" y="3618012"/>
            <a:ext cx="693390" cy="7887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8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 the top-earning employee across records.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6467388" y="1365723"/>
            <a:ext cx="1651169" cy="1413866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05435" y="1481212"/>
            <a:ext cx="1238577" cy="420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Experienced Staff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673683" y="1933437"/>
            <a:ext cx="1238577" cy="638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Filter employees meeting a defined experience threshold.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92736" y="3262982"/>
            <a:ext cx="1755145" cy="1423363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12022" y="3396921"/>
            <a:ext cx="1316571" cy="3924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Save to File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112021" y="3760063"/>
            <a:ext cx="1316571" cy="508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 all current data to data.txt permanently.</a:t>
            </a:r>
            <a:endParaRPr lang="en-US" sz="1000" dirty="0"/>
          </a:p>
        </p:txBody>
      </p:sp>
      <p:sp>
        <p:nvSpPr>
          <p:cNvPr id="32" name="Shape 21">
            <a:extLst>
              <a:ext uri="{FF2B5EF4-FFF2-40B4-BE49-F238E27FC236}">
                <a16:creationId xmlns:a16="http://schemas.microsoft.com/office/drawing/2014/main" id="{371CEF82-53F2-E2EB-AD75-0643A44265F2}"/>
              </a:ext>
            </a:extLst>
          </p:cNvPr>
          <p:cNvSpPr/>
          <p:nvPr/>
        </p:nvSpPr>
        <p:spPr>
          <a:xfrm>
            <a:off x="4749039" y="3262983"/>
            <a:ext cx="1814867" cy="1423363"/>
          </a:xfrm>
          <a:prstGeom prst="rect">
            <a:avLst/>
          </a:prstGeom>
          <a:solidFill>
            <a:srgbClr val="D6F5EE"/>
          </a:solidFill>
          <a:ln w="4763">
            <a:solidFill>
              <a:srgbClr val="BCDBD4"/>
            </a:solidFill>
            <a:prstDash val="solid"/>
          </a:ln>
        </p:spPr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0D26DC54-733B-64F0-2F4D-E3440D117FDE}"/>
              </a:ext>
            </a:extLst>
          </p:cNvPr>
          <p:cNvSpPr/>
          <p:nvPr/>
        </p:nvSpPr>
        <p:spPr>
          <a:xfrm>
            <a:off x="5077869" y="3399651"/>
            <a:ext cx="1257617" cy="2772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Highest Salary</a:t>
            </a:r>
            <a:endParaRPr lang="en-US" sz="1050" dirty="0"/>
          </a:p>
        </p:txBody>
      </p:sp>
      <p:sp>
        <p:nvSpPr>
          <p:cNvPr id="34" name="Text 23">
            <a:extLst>
              <a:ext uri="{FF2B5EF4-FFF2-40B4-BE49-F238E27FC236}">
                <a16:creationId xmlns:a16="http://schemas.microsoft.com/office/drawing/2014/main" id="{74EEA2AD-5BE2-20FB-A37C-06918ACBF2D6}"/>
              </a:ext>
            </a:extLst>
          </p:cNvPr>
          <p:cNvSpPr/>
          <p:nvPr/>
        </p:nvSpPr>
        <p:spPr>
          <a:xfrm>
            <a:off x="5087045" y="3794225"/>
            <a:ext cx="1150469" cy="626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19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Identify the top-earning employee across records.</a:t>
            </a:r>
            <a:endParaRPr lang="en-US" sz="1000" dirty="0"/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91721C7E-9149-08A8-5D20-D74F155682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393278"/>
            <a:ext cx="550813" cy="159023"/>
          </a:xfrm>
          <a:prstGeom prst="roundRect">
            <a:avLst>
              <a:gd name="adj" fmla="val 20125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972730" y="334764"/>
            <a:ext cx="2846859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OOP Concepts Used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96119" y="775022"/>
            <a:ext cx="8608963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lnSpc>
                <a:spcPct val="111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comprehensively demonstrates major Object-Oriented Programming principles through practical implementation.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96119" y="1111374"/>
            <a:ext cx="8151763" cy="3638848"/>
          </a:xfrm>
          <a:prstGeom prst="roundRect">
            <a:avLst>
              <a:gd name="adj" fmla="val 1099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0881" y="1116137"/>
            <a:ext cx="8142238" cy="213717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00955" y="1028339"/>
            <a:ext cx="2035522" cy="301515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10" name="Text 8"/>
          <p:cNvSpPr/>
          <p:nvPr/>
        </p:nvSpPr>
        <p:spPr>
          <a:xfrm>
            <a:off x="596206" y="1095461"/>
            <a:ext cx="1859612" cy="165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1000"/>
              </a:lnSpc>
              <a:buNone/>
            </a:pPr>
            <a:r>
              <a:rPr lang="en-US" sz="105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Concept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2536478" y="1028339"/>
            <a:ext cx="6106641" cy="301515"/>
          </a:xfrm>
          <a:prstGeom prst="rect">
            <a:avLst/>
          </a:prstGeom>
          <a:solidFill>
            <a:srgbClr val="26A688"/>
          </a:solidFill>
          <a:ln/>
        </p:spPr>
      </p:sp>
      <p:sp>
        <p:nvSpPr>
          <p:cNvPr id="12" name="Text 10"/>
          <p:cNvSpPr/>
          <p:nvPr/>
        </p:nvSpPr>
        <p:spPr>
          <a:xfrm>
            <a:off x="2634109" y="1096198"/>
            <a:ext cx="4609245" cy="165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1000"/>
              </a:lnSpc>
              <a:buNone/>
            </a:pPr>
            <a:r>
              <a:rPr lang="en-US" sz="1050" b="1" dirty="0">
                <a:solidFill>
                  <a:schemeClr val="bg1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Usage in Project</a:t>
            </a:r>
            <a:endParaRPr lang="en-US" sz="1050" dirty="0">
              <a:solidFill>
                <a:schemeClr val="bg1"/>
              </a:solidFill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00881" y="1329854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596205" y="1373014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Class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34109" y="1373014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Employee, EmployeeManager, Report, and FileHandler classes define structure.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0881" y="1709365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596205" y="1752526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Object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634109" y="1752526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Employee objects are instantiated for each staff member.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0881" y="2088877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596205" y="2132037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Constructor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634109" y="2132037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Initializes employee details automatically upon creation.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0881" y="2468389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96205" y="2511549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Encapsulation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634109" y="2511549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Private variables accessed through getters and setters.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0881" y="2847901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96205" y="2891061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Inheritance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2634109" y="2891061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Permanent, Contract, and Intern classes derive from Employee.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0881" y="3227412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96205" y="3270572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Abstraction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634109" y="3270572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work_mode() and calculate_bonus() declared abstract in parent.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0881" y="3606924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96205" y="3650084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Polymorphism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634109" y="3650084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Same method behaves differently for each employee type.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881" y="3986436"/>
            <a:ext cx="8142238" cy="379512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96205" y="4029596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Dictionary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634109" y="4029596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Stores records keyed by Employee ID for fast retrieval.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0881" y="4365947"/>
            <a:ext cx="8142238" cy="37951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96205" y="4409108"/>
            <a:ext cx="2299841" cy="1273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1000"/>
              </a:lnSpc>
              <a:buNone/>
            </a:pPr>
            <a:r>
              <a:rPr lang="en-US" sz="1000" b="1" dirty="0">
                <a:solidFill>
                  <a:srgbClr val="333F70"/>
                </a:solidFill>
                <a:latin typeface="Open Sans Bold" pitchFamily="34" charset="0"/>
                <a:ea typeface="Open Sans Bold" pitchFamily="34" charset="-122"/>
                <a:cs typeface="Open Sans Bold" pitchFamily="34" charset="-120"/>
              </a:rPr>
              <a:t>File Handling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634109" y="4409108"/>
            <a:ext cx="5913760" cy="2931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1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Writes and reads records from a persistent text file.</a:t>
            </a:r>
            <a:endParaRPr lang="en-US" sz="1000" dirty="0"/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57675435-8087-90A6-D8C6-FC280E3B8B1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32718"/>
            <a:ext cx="755228" cy="239018"/>
          </a:xfrm>
          <a:prstGeom prst="roundRect">
            <a:avLst>
              <a:gd name="adj" fmla="val 18372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251347" y="573135"/>
            <a:ext cx="3070994" cy="326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Class Hierarchy</a:t>
            </a:r>
            <a:endParaRPr lang="en-US" sz="2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112074"/>
            <a:ext cx="4763542" cy="21800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985444" y="1326691"/>
            <a:ext cx="1161472" cy="263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ContractEmployee &amp; Intern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3985444" y="1627597"/>
            <a:ext cx="1161472" cy="202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Contracted hours and internship rules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608744" y="2043245"/>
            <a:ext cx="1067805" cy="263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PermanentEmployee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608744" y="2344150"/>
            <a:ext cx="1067805" cy="202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6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Full-time; salary and bonus logic</a:t>
            </a:r>
            <a:endParaRPr lang="en-US" sz="650" dirty="0"/>
          </a:p>
        </p:txBody>
      </p:sp>
      <p:sp>
        <p:nvSpPr>
          <p:cNvPr id="11" name="Text 8"/>
          <p:cNvSpPr/>
          <p:nvPr/>
        </p:nvSpPr>
        <p:spPr>
          <a:xfrm>
            <a:off x="3985444" y="2413230"/>
            <a:ext cx="1161472" cy="2634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Employee (Abstract)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3985444" y="2714136"/>
            <a:ext cx="1161472" cy="2024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Defines shared interface and behaviors</a:t>
            </a:r>
            <a:endParaRPr lang="en-US" sz="650" dirty="0"/>
          </a:p>
        </p:txBody>
      </p:sp>
      <p:sp>
        <p:nvSpPr>
          <p:cNvPr id="13" name="Text 10"/>
          <p:cNvSpPr/>
          <p:nvPr/>
        </p:nvSpPr>
        <p:spPr>
          <a:xfrm>
            <a:off x="636315" y="3655421"/>
            <a:ext cx="4510601" cy="750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5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Employee base class defines the shared interface, while PermanentEmployee, ContractEmployee, and InternEmployee provide specialized implementations for bonus calculation and work mode.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583213" y="1099747"/>
            <a:ext cx="2484760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Supporting Classes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3213" y="1582915"/>
            <a:ext cx="3069431" cy="101619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785321" y="1727874"/>
            <a:ext cx="1935138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EmployeeManager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785321" y="2052468"/>
            <a:ext cx="2722364" cy="4016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Coordinates all CRUD operations and in-memory storage.</a:t>
            </a:r>
            <a:endParaRPr lang="en-US" sz="10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3213" y="2719590"/>
            <a:ext cx="3069431" cy="81535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785321" y="2864549"/>
            <a:ext cx="1633612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Report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785321" y="3189143"/>
            <a:ext cx="2722364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Generates analytical reports on demand.</a:t>
            </a:r>
            <a:endParaRPr lang="en-US" sz="1000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83213" y="3655421"/>
            <a:ext cx="3069431" cy="81535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785321" y="3800380"/>
            <a:ext cx="1633612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FileHandler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5785321" y="4124974"/>
            <a:ext cx="2722364" cy="2008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10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Persists records to and loads from data.txt.</a:t>
            </a:r>
            <a:endParaRPr lang="en-US" sz="1000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A946202-EF65-A9C0-9DB7-62FBF0B27A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C5DD3A4-2656-FDD5-6C28-83EF3BDAC1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2351183"/>
              </p:ext>
            </p:extLst>
          </p:nvPr>
        </p:nvGraphicFramePr>
        <p:xfrm>
          <a:off x="765810" y="877389"/>
          <a:ext cx="7886700" cy="3291840"/>
        </p:xfrm>
        <a:graphic>
          <a:graphicData uri="http://schemas.openxmlformats.org/drawingml/2006/table">
            <a:tbl>
              <a:tblPr/>
              <a:tblGrid>
                <a:gridCol w="3943350">
                  <a:extLst>
                    <a:ext uri="{9D8B030D-6E8A-4147-A177-3AD203B41FA5}">
                      <a16:colId xmlns:a16="http://schemas.microsoft.com/office/drawing/2014/main" val="4248305630"/>
                    </a:ext>
                  </a:extLst>
                </a:gridCol>
                <a:gridCol w="3943350">
                  <a:extLst>
                    <a:ext uri="{9D8B030D-6E8A-4147-A177-3AD203B41FA5}">
                      <a16:colId xmlns:a16="http://schemas.microsoft.com/office/drawing/2014/main" val="37145144"/>
                    </a:ext>
                  </a:extLst>
                </a:gridCol>
              </a:tblGrid>
              <a:tr h="42125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sz="2000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Tool / Technology</a:t>
                      </a:r>
                    </a:p>
                    <a:p>
                      <a:pPr algn="l">
                        <a:buNone/>
                      </a:pPr>
                      <a:endParaRPr lang="en-IN" sz="2000" b="1" dirty="0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 dirty="0">
                          <a:solidFill>
                            <a:schemeClr val="accent1">
                              <a:lumMod val="50000"/>
                            </a:schemeClr>
                          </a:solidFill>
                        </a:rPr>
                        <a:t>Purpose</a:t>
                      </a:r>
                    </a:p>
                    <a:p>
                      <a:pPr>
                        <a:buNone/>
                      </a:pPr>
                      <a:endParaRPr lang="en-IN" sz="2000" b="1" dirty="0">
                        <a:solidFill>
                          <a:schemeClr val="accent1">
                            <a:lumMod val="50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5983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Python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Programming Language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2857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Visual Studio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Code Editor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6500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Object-Oriented Programming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Application Design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6189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Dictionary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In-memory Data Storage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2105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File Handling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Store Employee Records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9305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Text File (.txt)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Persistent Data Storage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53261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Git &amp; GitHub (Optional)</a:t>
                      </a:r>
                    </a:p>
                    <a:p>
                      <a:pPr>
                        <a:buNone/>
                      </a:pPr>
                      <a:endParaRPr lang="en-IN" sz="1600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Version Control</a:t>
                      </a:r>
                    </a:p>
                    <a:p>
                      <a:pPr>
                        <a:buNone/>
                      </a:pPr>
                      <a:endParaRPr lang="en-IN" sz="1600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9237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1065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1010096"/>
            <a:ext cx="819299" cy="266402"/>
          </a:xfrm>
          <a:prstGeom prst="roundRect">
            <a:avLst>
              <a:gd name="adj" fmla="val 17880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022920" y="412078"/>
            <a:ext cx="4671492" cy="3543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Sample Console Output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93590" y="964245"/>
            <a:ext cx="6211658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Representative console interactions showing key system operations in action.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997361" y="4300859"/>
            <a:ext cx="1004116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/>
              <a:t>VIEW ALL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BCCEE38-CC0E-747B-72FE-2D81A6E33B3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8B556B-1361-3E78-FD3A-AFD6BE4F87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9029" y="1468502"/>
            <a:ext cx="2093960" cy="264292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B5CD336-4A53-FD2A-9802-E376D44E5A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526" y="1488569"/>
            <a:ext cx="1958109" cy="259102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D322FA36-13E3-AA2C-F488-710FCA36412F}"/>
              </a:ext>
            </a:extLst>
          </p:cNvPr>
          <p:cNvSpPr txBox="1"/>
          <p:nvPr/>
        </p:nvSpPr>
        <p:spPr>
          <a:xfrm>
            <a:off x="496119" y="4256800"/>
            <a:ext cx="1249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MAIN MENU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E9B6D111-CF8F-B391-2DC2-2D209C7B54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1727" y="1376633"/>
            <a:ext cx="4023519" cy="1120237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28F57438-61F9-AC32-F60A-A63939A68B67}"/>
              </a:ext>
            </a:extLst>
          </p:cNvPr>
          <p:cNvSpPr txBox="1"/>
          <p:nvPr/>
        </p:nvSpPr>
        <p:spPr>
          <a:xfrm>
            <a:off x="6103814" y="974020"/>
            <a:ext cx="13221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/>
              <a:t>STORED DATA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6A36CBB-4E15-553E-44D3-35EC47F636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02206" y="3033170"/>
            <a:ext cx="3953040" cy="1800087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D769C8A2-83C1-CBAE-4127-C75C329D22D7}"/>
              </a:ext>
            </a:extLst>
          </p:cNvPr>
          <p:cNvSpPr txBox="1"/>
          <p:nvPr/>
        </p:nvSpPr>
        <p:spPr>
          <a:xfrm>
            <a:off x="6246181" y="2682444"/>
            <a:ext cx="126509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dirty="0"/>
              <a:t>ADD DETAILS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28699"/>
            <a:ext cx="768102" cy="244376"/>
          </a:xfrm>
          <a:prstGeom prst="roundRect">
            <a:avLst>
              <a:gd name="adj" fmla="val 18274"/>
            </a:avLst>
          </a:prstGeom>
          <a:noFill/>
          <a:ln/>
          <a:effectLst>
            <a:outerShdw blurRad="101600" dist="50800" dir="16200000" algn="bl" rotWithShape="0">
              <a:srgbClr val="26A688">
                <a:alpha val="10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386734" y="550887"/>
            <a:ext cx="2060478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Advantages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89902" y="1241971"/>
            <a:ext cx="3935462" cy="1704752"/>
          </a:xfrm>
          <a:prstGeom prst="roundRect">
            <a:avLst>
              <a:gd name="adj" fmla="val 5613"/>
            </a:avLst>
          </a:prstGeom>
          <a:solidFill>
            <a:srgbClr val="DDF8F2"/>
          </a:solidFill>
          <a:ln/>
        </p:spPr>
      </p:sp>
      <p:sp>
        <p:nvSpPr>
          <p:cNvPr id="7" name="Text 5"/>
          <p:cNvSpPr/>
          <p:nvPr/>
        </p:nvSpPr>
        <p:spPr>
          <a:xfrm>
            <a:off x="722806" y="1366540"/>
            <a:ext cx="2165300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Key Advantages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22806" y="1698799"/>
            <a:ext cx="3669655" cy="1204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Simple console-based interface.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Fast dictionary-powered search by Employee ID.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Modular file structure for easy maintenance.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Demonstrates all major OOP principles.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Reusable and extensible codebase.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961131" y="1366540"/>
            <a:ext cx="2581405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33F70"/>
                </a:solidFill>
                <a:latin typeface="Unbounded Bold" pitchFamily="34" charset="0"/>
                <a:ea typeface="Unbounded Bold" pitchFamily="34" charset="-122"/>
                <a:cs typeface="Unbounded Bold" pitchFamily="34" charset="-120"/>
              </a:rPr>
              <a:t>Future Enhancements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61131" y="1698799"/>
            <a:ext cx="3795435" cy="1204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Login authentication for secure access.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MySQL database integration for scalability.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Employee attendance and leave management.</a:t>
            </a:r>
            <a:endParaRPr lang="en-US" sz="1100" dirty="0"/>
          </a:p>
          <a:p>
            <a:pPr marL="203200" indent="-203200" algn="l">
              <a:lnSpc>
                <a:spcPct val="129000"/>
              </a:lnSpc>
              <a:buSzPct val="100000"/>
              <a:buChar char="•"/>
            </a:pPr>
            <a:r>
              <a:rPr lang="en-US" sz="1100" dirty="0">
                <a:solidFill>
                  <a:srgbClr val="333F7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Salary slip generation and data dashboards.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8677" y="3184987"/>
            <a:ext cx="8151763" cy="14288"/>
          </a:xfrm>
          <a:prstGeom prst="roundRect">
            <a:avLst>
              <a:gd name="adj" fmla="val 59998"/>
            </a:avLst>
          </a:prstGeom>
          <a:solidFill>
            <a:srgbClr val="333F70">
              <a:alpha val="5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496119" y="3422464"/>
            <a:ext cx="8151763" cy="1070061"/>
          </a:xfrm>
          <a:prstGeom prst="roundRect">
            <a:avLst>
              <a:gd name="adj" fmla="val 7807"/>
            </a:avLst>
          </a:prstGeom>
          <a:solidFill>
            <a:srgbClr val="D6F5EE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022" y="3495526"/>
            <a:ext cx="166092" cy="132904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928018" y="3711479"/>
            <a:ext cx="7586960" cy="590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project successfully demonstrates CRUD operations, inheritance, polymorphism, and file handling — forming a strong foundation for a full-scale HR management system.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6119" y="4162723"/>
            <a:ext cx="8151763" cy="552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9000"/>
              </a:lnSpc>
              <a:spcAft>
                <a:spcPts val="2700"/>
              </a:spcAft>
              <a:buNone/>
            </a:pPr>
            <a:endParaRPr lang="en-US" sz="1000" dirty="0"/>
          </a:p>
          <a:p>
            <a:pPr marL="0" indent="0" algn="ctr">
              <a:lnSpc>
                <a:spcPct val="129000"/>
              </a:lnSpc>
              <a:buNone/>
            </a:pPr>
            <a:endParaRPr lang="en-US" sz="1000" dirty="0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6510335-9FE5-08E2-AC44-5975592B73E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22077" y="4833257"/>
            <a:ext cx="1070042" cy="254725"/>
          </a:xfrm>
          <a:prstGeom prst="round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333071-967C-70FA-5A02-1DBB3D06FAFB}"/>
              </a:ext>
            </a:extLst>
          </p:cNvPr>
          <p:cNvSpPr txBox="1"/>
          <p:nvPr/>
        </p:nvSpPr>
        <p:spPr>
          <a:xfrm>
            <a:off x="999309" y="904493"/>
            <a:ext cx="6799217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IN" sz="2000" b="1" dirty="0">
                <a:solidFill>
                  <a:schemeClr val="accent1">
                    <a:lumMod val="50000"/>
                  </a:schemeClr>
                </a:solidFill>
              </a:rPr>
              <a:t>Conclusion</a:t>
            </a:r>
          </a:p>
          <a:p>
            <a:pPr algn="ctr">
              <a:buNone/>
            </a:pPr>
            <a:endParaRPr lang="en-IN" sz="2000" b="1" dirty="0">
              <a:solidFill>
                <a:schemeClr val="accent1">
                  <a:lumMod val="50000"/>
                </a:schemeClr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Developed a console-based Employee Record Management System using Python.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1200" dirty="0">
              <a:solidFill>
                <a:schemeClr val="accent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Successfully implemented CRUD operations for employee records.</a:t>
            </a:r>
          </a:p>
          <a:p>
            <a:endParaRPr lang="en-IN" sz="1200" dirty="0">
              <a:solidFill>
                <a:schemeClr val="accent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Applied OOP concepts: Encapsulation, Inheritance, Abstraction, and Polymorphism.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1200" dirty="0">
              <a:solidFill>
                <a:schemeClr val="accent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Used dictionaries for efficient data management.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1200" dirty="0">
              <a:solidFill>
                <a:schemeClr val="accent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Implemented file handling for persistent data storage.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1200" dirty="0">
              <a:solidFill>
                <a:schemeClr val="accent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Designed a modular and easy-to-maintain project structure.</a:t>
            </a:r>
          </a:p>
          <a:p>
            <a:endParaRPr lang="en-IN" sz="1200" dirty="0">
              <a:solidFill>
                <a:schemeClr val="accent1">
                  <a:lumMod val="75000"/>
                </a:schemeClr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IN" sz="1200" dirty="0">
                <a:solidFill>
                  <a:schemeClr val="accent1">
                    <a:lumMod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Provides a foundation for future enhancements such as databases, GUI, and authentication.</a:t>
            </a:r>
          </a:p>
          <a:p>
            <a:pPr>
              <a:buFont typeface="Arial" panose="020B0604020202020204" pitchFamily="34" charset="0"/>
              <a:buChar char="•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1693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860</Words>
  <Application>Microsoft Office PowerPoint</Application>
  <PresentationFormat>On-screen Show (16:9)</PresentationFormat>
  <Paragraphs>173</Paragraphs>
  <Slides>11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Open Sans Bold</vt:lpstr>
      <vt:lpstr>Unbounded Bold</vt:lpstr>
      <vt:lpstr>Open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Daarani B</cp:lastModifiedBy>
  <cp:revision>14</cp:revision>
  <dcterms:created xsi:type="dcterms:W3CDTF">2026-07-02T18:35:43Z</dcterms:created>
  <dcterms:modified xsi:type="dcterms:W3CDTF">2026-07-03T07:54:34Z</dcterms:modified>
</cp:coreProperties>
</file>